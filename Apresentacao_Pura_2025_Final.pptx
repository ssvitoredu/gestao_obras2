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203864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0.87</c:v>
                </c:pt>
                <c:pt idx="1">
                  <c:v>2.5</c:v>
                </c:pt>
                <c:pt idx="2">
                  <c:v>5.2</c:v>
                </c:pt>
                <c:pt idx="3">
                  <c:v>2.6</c:v>
                </c:pt>
                <c:pt idx="4">
                  <c:v>2.9</c:v>
                </c:pt>
                <c:pt idx="5">
                  <c:v>4.3</c:v>
                </c:pt>
                <c:pt idx="6">
                  <c:v>2.4</c:v>
                </c:pt>
                <c:pt idx="7">
                  <c:v>6.0</c:v>
                </c:pt>
                <c:pt idx="8">
                  <c:v>2.4</c:v>
                </c:pt>
                <c:pt idx="9">
                  <c:v>3.0</c:v>
                </c:pt>
                <c:pt idx="10">
                  <c:v>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5B9BD5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0.52</c:v>
                </c:pt>
                <c:pt idx="1">
                  <c:v>1.8</c:v>
                </c:pt>
                <c:pt idx="2">
                  <c:v>4.8</c:v>
                </c:pt>
                <c:pt idx="3">
                  <c:v>1.5</c:v>
                </c:pt>
                <c:pt idx="4">
                  <c:v>2.0</c:v>
                </c:pt>
                <c:pt idx="5">
                  <c:v>3.7</c:v>
                </c:pt>
                <c:pt idx="6">
                  <c:v>1.7</c:v>
                </c:pt>
                <c:pt idx="7">
                  <c:v>4.3</c:v>
                </c:pt>
                <c:pt idx="8">
                  <c:v>1.5</c:v>
                </c:pt>
                <c:pt idx="9">
                  <c:v>2.1</c:v>
                </c:pt>
                <c:pt idx="10">
                  <c:v>3.6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203864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Permutas</c:v>
                </c:pt>
                <c:pt idx="1">
                  <c:v>PIX</c:v>
                </c:pt>
                <c:pt idx="2">
                  <c:v>Estoque</c:v>
                </c:pt>
                <c:pt idx="3">
                  <c:v>Boleto</c:v>
                </c:pt>
                <c:pt idx="4">
                  <c:v>Carteira</c:v>
                </c:pt>
                <c:pt idx="5">
                  <c:v>Não Inf.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28.0</c:v>
                </c:pt>
                <c:pt idx="1">
                  <c:v>5.0</c:v>
                </c:pt>
                <c:pt idx="2">
                  <c:v>2.7</c:v>
                </c:pt>
                <c:pt idx="3">
                  <c:v>1.6</c:v>
                </c:pt>
                <c:pt idx="4">
                  <c:v>0.38</c:v>
                </c:pt>
                <c:pt idx="5">
                  <c:v>0.02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203864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Res. Manacá I</c:v>
                </c:pt>
                <c:pt idx="1">
                  <c:v>Res. Jatobá</c:v>
                </c:pt>
                <c:pt idx="2">
                  <c:v>Shop. Americana Mall</c:v>
                </c:pt>
                <c:pt idx="3">
                  <c:v>Res. Pacaembu</c:v>
                </c:pt>
                <c:pt idx="4">
                  <c:v>Estoque Central</c:v>
                </c:pt>
                <c:pt idx="5">
                  <c:v>Santuário S.J. Paulo II</c:v>
                </c:pt>
                <c:pt idx="6">
                  <c:v>Manacá/Jatobá/Shop</c:v>
                </c:pt>
                <c:pt idx="7">
                  <c:v>Obra BLB</c:v>
                </c:pt>
                <c:pt idx="8">
                  <c:v>Clube Veteranos</c:v>
                </c:pt>
                <c:pt idx="9">
                  <c:v>Villágio</c:v>
                </c:pt>
                <c:pt idx="10">
                  <c:v>Sky House</c:v>
                </c:pt>
                <c:pt idx="11">
                  <c:v>Swiss Pak</c:v>
                </c:pt>
                <c:pt idx="12">
                  <c:v>Acerto Denadai</c:v>
                </c:pt>
                <c:pt idx="13">
                  <c:v>Salão 05 Orla</c:v>
                </c:pt>
                <c:pt idx="14">
                  <c:v>Area 1</c:v>
                </c:pt>
                <c:pt idx="15">
                  <c:v>Nascer do Sol</c:v>
                </c:pt>
                <c:pt idx="16">
                  <c:v>Res. Ipe Roxo</c:v>
                </c:pt>
                <c:pt idx="17">
                  <c:v>Villa Verde</c:v>
                </c:pt>
                <c:pt idx="18">
                  <c:v>Sobrados Praia Azul</c:v>
                </c:pt>
                <c:pt idx="19">
                  <c:v>Salão 20 Maranhão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9.3</c:v>
                </c:pt>
                <c:pt idx="1">
                  <c:v>7.2</c:v>
                </c:pt>
                <c:pt idx="2">
                  <c:v>3.1</c:v>
                </c:pt>
                <c:pt idx="3">
                  <c:v>1.8</c:v>
                </c:pt>
                <c:pt idx="4">
                  <c:v>1.7</c:v>
                </c:pt>
                <c:pt idx="5">
                  <c:v>1.0</c:v>
                </c:pt>
                <c:pt idx="6">
                  <c:v>0.94</c:v>
                </c:pt>
                <c:pt idx="7">
                  <c:v>0.89</c:v>
                </c:pt>
                <c:pt idx="8">
                  <c:v>0.85</c:v>
                </c:pt>
                <c:pt idx="9">
                  <c:v>0.62</c:v>
                </c:pt>
                <c:pt idx="10">
                  <c:v>0.53</c:v>
                </c:pt>
                <c:pt idx="11">
                  <c:v>0.51</c:v>
                </c:pt>
                <c:pt idx="12">
                  <c:v>0.51</c:v>
                </c:pt>
                <c:pt idx="13">
                  <c:v>0.48</c:v>
                </c:pt>
                <c:pt idx="14">
                  <c:v>0.45</c:v>
                </c:pt>
                <c:pt idx="15">
                  <c:v>0.41</c:v>
                </c:pt>
                <c:pt idx="16">
                  <c:v>0.41</c:v>
                </c:pt>
                <c:pt idx="17">
                  <c:v>0.39</c:v>
                </c:pt>
                <c:pt idx="18">
                  <c:v>0.38</c:v>
                </c:pt>
                <c:pt idx="19">
                  <c:v>0.33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203864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Jose Carlos Evang.</c:v>
                </c:pt>
                <c:pt idx="1">
                  <c:v>Res. SBO 01</c:v>
                </c:pt>
                <c:pt idx="2">
                  <c:v>Diversas Obras</c:v>
                </c:pt>
                <c:pt idx="3">
                  <c:v>Americana Mall</c:v>
                </c:pt>
                <c:pt idx="4">
                  <c:v>Nascer do Sol Emp.</c:v>
                </c:pt>
                <c:pt idx="5">
                  <c:v>Cataby - Obra Paulista</c:v>
                </c:pt>
                <c:pt idx="6">
                  <c:v>Permuta Claudio</c:v>
                </c:pt>
                <c:pt idx="7">
                  <c:v>Desafio do Pura</c:v>
                </c:pt>
                <c:pt idx="8">
                  <c:v>Reservatorio CTC</c:v>
                </c:pt>
                <c:pt idx="9">
                  <c:v>Escritorio</c:v>
                </c:pt>
                <c:pt idx="10">
                  <c:v>Res. Ipe Rosa</c:v>
                </c:pt>
                <c:pt idx="11">
                  <c:v>Imobiliarios Ltda</c:v>
                </c:pt>
                <c:pt idx="12">
                  <c:v>Recinto Festa Peão</c:v>
                </c:pt>
                <c:pt idx="13">
                  <c:v>Permuta Agnaldo</c:v>
                </c:pt>
                <c:pt idx="14">
                  <c:v>Santa Lucia L17</c:v>
                </c:pt>
                <c:pt idx="15">
                  <c:v>Res. Jacaranda</c:v>
                </c:pt>
                <c:pt idx="16">
                  <c:v>Desconhecido</c:v>
                </c:pt>
                <c:pt idx="17">
                  <c:v>Ana Zanaga Balsa</c:v>
                </c:pt>
                <c:pt idx="18">
                  <c:v>Varandas do Sol</c:v>
                </c:pt>
                <c:pt idx="19">
                  <c:v>Av. Jacaranda</c:v>
                </c:pt>
                <c:pt idx="20">
                  <c:v>Obra Construfera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0.29</c:v>
                </c:pt>
                <c:pt idx="1">
                  <c:v>0.27</c:v>
                </c:pt>
                <c:pt idx="2">
                  <c:v>0.27</c:v>
                </c:pt>
                <c:pt idx="3">
                  <c:v>0.27</c:v>
                </c:pt>
                <c:pt idx="4">
                  <c:v>0.25</c:v>
                </c:pt>
                <c:pt idx="5">
                  <c:v>0.24</c:v>
                </c:pt>
                <c:pt idx="6">
                  <c:v>0.18</c:v>
                </c:pt>
                <c:pt idx="7">
                  <c:v>0.18</c:v>
                </c:pt>
                <c:pt idx="8">
                  <c:v>0.18</c:v>
                </c:pt>
                <c:pt idx="9">
                  <c:v>0.18</c:v>
                </c:pt>
                <c:pt idx="10">
                  <c:v>0.17</c:v>
                </c:pt>
                <c:pt idx="11">
                  <c:v>0.16</c:v>
                </c:pt>
                <c:pt idx="12">
                  <c:v>0.14</c:v>
                </c:pt>
                <c:pt idx="13">
                  <c:v>0.13</c:v>
                </c:pt>
                <c:pt idx="14">
                  <c:v>0.12</c:v>
                </c:pt>
                <c:pt idx="15">
                  <c:v>0.12</c:v>
                </c:pt>
                <c:pt idx="16">
                  <c:v>0.11</c:v>
                </c:pt>
                <c:pt idx="17">
                  <c:v>0.1</c:v>
                </c:pt>
                <c:pt idx="18">
                  <c:v>0.09</c:v>
                </c:pt>
                <c:pt idx="19">
                  <c:v>0.09</c:v>
                </c:pt>
                <c:pt idx="20">
                  <c:v>0.09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203864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Obra Terreno Lado Imoveis</c:v>
                </c:pt>
                <c:pt idx="1">
                  <c:v>Varandas do Sol Emp.</c:v>
                </c:pt>
                <c:pt idx="2">
                  <c:v>Avenida Jacaranda</c:v>
                </c:pt>
                <c:pt idx="3">
                  <c:v>Obra Construfera</c:v>
                </c:pt>
                <c:pt idx="4">
                  <c:v>Casa Modelo Jacarandá</c:v>
                </c:pt>
                <c:pt idx="5">
                  <c:v>Vila Verde Empreed.</c:v>
                </c:pt>
                <c:pt idx="6">
                  <c:v>Shop. Americana Etapa 3</c:v>
                </c:pt>
                <c:pt idx="7">
                  <c:v>Cimento Rio Claro</c:v>
                </c:pt>
                <c:pt idx="8">
                  <c:v>Res. Ipe Amarelo</c:v>
                </c:pt>
                <c:pt idx="9">
                  <c:v>Res. SBO 3</c:v>
                </c:pt>
                <c:pt idx="10">
                  <c:v>Elevatoria Esgoto</c:v>
                </c:pt>
                <c:pt idx="11">
                  <c:v>Poço Ipe Amarelo</c:v>
                </c:pt>
                <c:pt idx="12">
                  <c:v>Locação Maquinas</c:v>
                </c:pt>
                <c:pt idx="13">
                  <c:v>Res. Pinheiros</c:v>
                </c:pt>
                <c:pt idx="14">
                  <c:v>Decorado Ipe Roxo</c:v>
                </c:pt>
                <c:pt idx="15">
                  <c:v>Reforma Daniela</c:v>
                </c:pt>
                <c:pt idx="16">
                  <c:v>Quinta Romeiros</c:v>
                </c:pt>
                <c:pt idx="17">
                  <c:v>Marketing Jacarandas</c:v>
                </c:pt>
                <c:pt idx="18">
                  <c:v>AVM Imóveis</c:v>
                </c:pt>
                <c:pt idx="19">
                  <c:v>Dep. Rafaela</c:v>
                </c:pt>
                <c:pt idx="20">
                  <c:v>Iracemápolis 01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0.109</c:v>
                </c:pt>
                <c:pt idx="1">
                  <c:v>0.097</c:v>
                </c:pt>
                <c:pt idx="2">
                  <c:v>0.097</c:v>
                </c:pt>
                <c:pt idx="3">
                  <c:v>0.094</c:v>
                </c:pt>
                <c:pt idx="4">
                  <c:v>0.092</c:v>
                </c:pt>
                <c:pt idx="5">
                  <c:v>0.083</c:v>
                </c:pt>
                <c:pt idx="6">
                  <c:v>0.08</c:v>
                </c:pt>
                <c:pt idx="7">
                  <c:v>0.075</c:v>
                </c:pt>
                <c:pt idx="8">
                  <c:v>0.071</c:v>
                </c:pt>
                <c:pt idx="9">
                  <c:v>0.069</c:v>
                </c:pt>
                <c:pt idx="10">
                  <c:v>0.066</c:v>
                </c:pt>
                <c:pt idx="11">
                  <c:v>0.063</c:v>
                </c:pt>
                <c:pt idx="12">
                  <c:v>0.058</c:v>
                </c:pt>
                <c:pt idx="13">
                  <c:v>0.056</c:v>
                </c:pt>
                <c:pt idx="14">
                  <c:v>0.053</c:v>
                </c:pt>
                <c:pt idx="15">
                  <c:v>0.051</c:v>
                </c:pt>
                <c:pt idx="16">
                  <c:v>0.044</c:v>
                </c:pt>
                <c:pt idx="17">
                  <c:v>0.044</c:v>
                </c:pt>
                <c:pt idx="18">
                  <c:v>0.044</c:v>
                </c:pt>
                <c:pt idx="19">
                  <c:v>0.043</c:v>
                </c:pt>
                <c:pt idx="20">
                  <c:v>0.036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203864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Reforma Dona Maria</c:v>
                </c:pt>
                <c:pt idx="1">
                  <c:v>Canteiro de Obra</c:v>
                </c:pt>
                <c:pt idx="2">
                  <c:v>Plantão Vendas</c:v>
                </c:pt>
                <c:pt idx="3">
                  <c:v>Wision (Visual)</c:v>
                </c:pt>
                <c:pt idx="4">
                  <c:v>Projet Engenharia</c:v>
                </c:pt>
                <c:pt idx="5">
                  <c:v>Pura Imóveis</c:v>
                </c:pt>
                <c:pt idx="6">
                  <c:v>Permuta Lajes</c:v>
                </c:pt>
                <c:pt idx="7">
                  <c:v>Ação Centro Cívico</c:v>
                </c:pt>
                <c:pt idx="8">
                  <c:v>Ipe Amarelo Manut.</c:v>
                </c:pt>
                <c:pt idx="9">
                  <c:v>Casa do Careca</c:v>
                </c:pt>
                <c:pt idx="10">
                  <c:v>Léo Guia</c:v>
                </c:pt>
                <c:pt idx="11">
                  <c:v>Maria Eduarda</c:v>
                </c:pt>
                <c:pt idx="12">
                  <c:v>Orla Praia Azul</c:v>
                </c:pt>
                <c:pt idx="13">
                  <c:v>Cond. América</c:v>
                </c:pt>
                <c:pt idx="14">
                  <c:v>Contrapartida Pref.</c:v>
                </c:pt>
                <c:pt idx="15">
                  <c:v>Doação</c:v>
                </c:pt>
                <c:pt idx="16">
                  <c:v>Reforma Oficina</c:v>
                </c:pt>
                <c:pt idx="17">
                  <c:v>Escritório Dr Rodrigo</c:v>
                </c:pt>
                <c:pt idx="18">
                  <c:v>Reforma Pastor</c:v>
                </c:pt>
                <c:pt idx="19">
                  <c:v>Nova Carioba</c:v>
                </c:pt>
                <c:pt idx="20">
                  <c:v>Pura Dist. Materiais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0.036</c:v>
                </c:pt>
                <c:pt idx="1">
                  <c:v>0.034</c:v>
                </c:pt>
                <c:pt idx="2">
                  <c:v>0.032</c:v>
                </c:pt>
                <c:pt idx="3">
                  <c:v>0.028</c:v>
                </c:pt>
                <c:pt idx="4">
                  <c:v>0.028</c:v>
                </c:pt>
                <c:pt idx="5">
                  <c:v>0.028</c:v>
                </c:pt>
                <c:pt idx="6">
                  <c:v>0.027</c:v>
                </c:pt>
                <c:pt idx="7">
                  <c:v>0.026</c:v>
                </c:pt>
                <c:pt idx="8">
                  <c:v>0.024</c:v>
                </c:pt>
                <c:pt idx="9">
                  <c:v>0.016</c:v>
                </c:pt>
                <c:pt idx="10">
                  <c:v>0.016</c:v>
                </c:pt>
                <c:pt idx="11">
                  <c:v>0.016</c:v>
                </c:pt>
                <c:pt idx="12">
                  <c:v>0.014</c:v>
                </c:pt>
                <c:pt idx="13">
                  <c:v>0.013</c:v>
                </c:pt>
                <c:pt idx="14">
                  <c:v>0.013</c:v>
                </c:pt>
                <c:pt idx="15">
                  <c:v>0.012</c:v>
                </c:pt>
                <c:pt idx="16">
                  <c:v>0.011</c:v>
                </c:pt>
                <c:pt idx="17">
                  <c:v>0.011</c:v>
                </c:pt>
                <c:pt idx="18">
                  <c:v>0.01</c:v>
                </c:pt>
                <c:pt idx="19">
                  <c:v>0.009</c:v>
                </c:pt>
                <c:pt idx="20">
                  <c:v>0.008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5B9BD5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Sheet1!$A$2:$A$26</c:f>
              <c:strCache>
                <c:ptCount val="25"/>
                <c:pt idx="0">
                  <c:v>Hipermix Brasil</c:v>
                </c:pt>
                <c:pt idx="1">
                  <c:v>PSPAV Comercio</c:v>
                </c:pt>
                <c:pt idx="2">
                  <c:v>Esquadrimaxxi</c:v>
                </c:pt>
                <c:pt idx="3">
                  <c:v>Pura Construtora</c:v>
                </c:pt>
                <c:pt idx="4">
                  <c:v>Esquadrias e Vidros</c:v>
                </c:pt>
                <c:pt idx="5">
                  <c:v>Cofibra Industria</c:v>
                </c:pt>
                <c:pt idx="6">
                  <c:v>BLB Blocos</c:v>
                </c:pt>
                <c:pt idx="7">
                  <c:v>DC Comercio Mat.</c:v>
                </c:pt>
                <c:pt idx="8">
                  <c:v>ANTC Industria</c:v>
                </c:pt>
                <c:pt idx="9">
                  <c:v>Galvani Mineração</c:v>
                </c:pt>
                <c:pt idx="10">
                  <c:v>JMS Marbles</c:v>
                </c:pt>
                <c:pt idx="11">
                  <c:v>Comercial Ipiranga</c:v>
                </c:pt>
                <c:pt idx="12">
                  <c:v>KJC Portas</c:v>
                </c:pt>
                <c:pt idx="13">
                  <c:v>Vittoria Cimentos</c:v>
                </c:pt>
                <c:pt idx="14">
                  <c:v>Neural Projetos</c:v>
                </c:pt>
                <c:pt idx="15">
                  <c:v>Construfera Com.</c:v>
                </c:pt>
                <c:pt idx="16">
                  <c:v>Mondialle Ind.</c:v>
                </c:pt>
                <c:pt idx="17">
                  <c:v>Americandaimes</c:v>
                </c:pt>
                <c:pt idx="18">
                  <c:v>Eletro Fort</c:v>
                </c:pt>
                <c:pt idx="19">
                  <c:v>Triade 19</c:v>
                </c:pt>
                <c:pt idx="20">
                  <c:v>Lajes Caetano</c:v>
                </c:pt>
                <c:pt idx="21">
                  <c:v>Cia do Ferro</c:v>
                </c:pt>
                <c:pt idx="22">
                  <c:v>Inove Tubos</c:v>
                </c:pt>
                <c:pt idx="23">
                  <c:v>FR Silva</c:v>
                </c:pt>
                <c:pt idx="24">
                  <c:v>Pav Concreto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5.1</c:v>
                </c:pt>
                <c:pt idx="1">
                  <c:v>3.3</c:v>
                </c:pt>
                <c:pt idx="2">
                  <c:v>2.8</c:v>
                </c:pt>
                <c:pt idx="3">
                  <c:v>2.7</c:v>
                </c:pt>
                <c:pt idx="4">
                  <c:v>2.1</c:v>
                </c:pt>
                <c:pt idx="5">
                  <c:v>1.5</c:v>
                </c:pt>
                <c:pt idx="6">
                  <c:v>1.4</c:v>
                </c:pt>
                <c:pt idx="7">
                  <c:v>1.1</c:v>
                </c:pt>
                <c:pt idx="8">
                  <c:v>1.1</c:v>
                </c:pt>
                <c:pt idx="9">
                  <c:v>1.0</c:v>
                </c:pt>
                <c:pt idx="10">
                  <c:v>0.8</c:v>
                </c:pt>
                <c:pt idx="11">
                  <c:v>0.7</c:v>
                </c:pt>
                <c:pt idx="12">
                  <c:v>0.6</c:v>
                </c:pt>
                <c:pt idx="13">
                  <c:v>0.53</c:v>
                </c:pt>
                <c:pt idx="14">
                  <c:v>0.52</c:v>
                </c:pt>
                <c:pt idx="15">
                  <c:v>0.51</c:v>
                </c:pt>
                <c:pt idx="16">
                  <c:v>0.49</c:v>
                </c:pt>
                <c:pt idx="17">
                  <c:v>0.49</c:v>
                </c:pt>
                <c:pt idx="18">
                  <c:v>0.47</c:v>
                </c:pt>
                <c:pt idx="19">
                  <c:v>0.43</c:v>
                </c:pt>
                <c:pt idx="20">
                  <c:v>0.38</c:v>
                </c:pt>
                <c:pt idx="21">
                  <c:v>0.36</c:v>
                </c:pt>
                <c:pt idx="22">
                  <c:v>0.34</c:v>
                </c:pt>
                <c:pt idx="23">
                  <c:v>0.34</c:v>
                </c:pt>
                <c:pt idx="24">
                  <c:v>0.34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5B9BD5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Pizzinatto Ind.</c:v>
                </c:pt>
                <c:pt idx="1">
                  <c:v>Ale Tubos</c:v>
                </c:pt>
                <c:pt idx="2">
                  <c:v>Cimento Rio</c:v>
                </c:pt>
                <c:pt idx="3">
                  <c:v>Paris Hidro Luz</c:v>
                </c:pt>
                <c:pt idx="4">
                  <c:v>Paula Cristina</c:v>
                </c:pt>
                <c:pt idx="5">
                  <c:v>Gleiciara Alves</c:v>
                </c:pt>
                <c:pt idx="6">
                  <c:v>Manetoni Dist.</c:v>
                </c:pt>
                <c:pt idx="7">
                  <c:v>Rede Eletrica</c:v>
                </c:pt>
                <c:pt idx="8">
                  <c:v>Mineracao Areia</c:v>
                </c:pt>
                <c:pt idx="9">
                  <c:v>Futura Ind.</c:v>
                </c:pt>
                <c:pt idx="10">
                  <c:v>Fuminas Ind.</c:v>
                </c:pt>
                <c:pt idx="11">
                  <c:v>Amizade Com.</c:v>
                </c:pt>
                <c:pt idx="12">
                  <c:v>Tormel Com.</c:v>
                </c:pt>
                <c:pt idx="13">
                  <c:v>Qualyvax Proj.</c:v>
                </c:pt>
                <c:pt idx="14">
                  <c:v>Reservatorios Met.</c:v>
                </c:pt>
                <c:pt idx="15">
                  <c:v>Plasnil Ind.</c:v>
                </c:pt>
                <c:pt idx="16">
                  <c:v>Torina Madeiras</c:v>
                </c:pt>
                <c:pt idx="17">
                  <c:v>Poliview Tec.</c:v>
                </c:pt>
                <c:pt idx="18">
                  <c:v>TI Construcoes</c:v>
                </c:pt>
                <c:pt idx="19">
                  <c:v>BT Comercio</c:v>
                </c:pt>
                <c:pt idx="20">
                  <c:v>Marco Antonio</c:v>
                </c:pt>
                <c:pt idx="21">
                  <c:v>Projet Topo.</c:v>
                </c:pt>
                <c:pt idx="22">
                  <c:v>MM Comercio</c:v>
                </c:pt>
                <c:pt idx="23">
                  <c:v>Udiaco Com.</c:v>
                </c:pt>
                <c:pt idx="24">
                  <c:v>Plastcor</c:v>
                </c:pt>
                <c:pt idx="25">
                  <c:v>Araujo Esq.</c:v>
                </c:pt>
                <c:pt idx="26">
                  <c:v>RV Industria</c:v>
                </c:pt>
                <c:pt idx="27">
                  <c:v>Distribuidora Cimento</c:v>
                </c:pt>
                <c:pt idx="28">
                  <c:v>Paula Cristina</c:v>
                </c:pt>
                <c:pt idx="29">
                  <c:v>Cicalfer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0.3</c:v>
                </c:pt>
                <c:pt idx="1">
                  <c:v>0.3</c:v>
                </c:pt>
                <c:pt idx="2">
                  <c:v>0.28</c:v>
                </c:pt>
                <c:pt idx="3">
                  <c:v>0.28</c:v>
                </c:pt>
                <c:pt idx="4">
                  <c:v>0.28</c:v>
                </c:pt>
                <c:pt idx="5">
                  <c:v>0.27</c:v>
                </c:pt>
                <c:pt idx="6">
                  <c:v>0.24</c:v>
                </c:pt>
                <c:pt idx="7">
                  <c:v>0.2</c:v>
                </c:pt>
                <c:pt idx="8">
                  <c:v>0.2</c:v>
                </c:pt>
                <c:pt idx="9">
                  <c:v>0.16</c:v>
                </c:pt>
                <c:pt idx="10">
                  <c:v>0.16</c:v>
                </c:pt>
                <c:pt idx="11">
                  <c:v>0.15</c:v>
                </c:pt>
                <c:pt idx="12">
                  <c:v>0.15</c:v>
                </c:pt>
                <c:pt idx="13">
                  <c:v>0.14</c:v>
                </c:pt>
                <c:pt idx="14">
                  <c:v>0.13</c:v>
                </c:pt>
                <c:pt idx="15">
                  <c:v>0.12</c:v>
                </c:pt>
                <c:pt idx="16">
                  <c:v>0.12</c:v>
                </c:pt>
                <c:pt idx="17">
                  <c:v>0.12</c:v>
                </c:pt>
                <c:pt idx="18">
                  <c:v>0.12</c:v>
                </c:pt>
                <c:pt idx="19">
                  <c:v>0.12</c:v>
                </c:pt>
                <c:pt idx="20">
                  <c:v>0.11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0.09</c:v>
                </c:pt>
                <c:pt idx="25">
                  <c:v>0.09</c:v>
                </c:pt>
                <c:pt idx="26">
                  <c:v>0.09</c:v>
                </c:pt>
                <c:pt idx="27">
                  <c:v>0.09</c:v>
                </c:pt>
                <c:pt idx="28">
                  <c:v>0.08</c:v>
                </c:pt>
                <c:pt idx="29">
                  <c:v>0.08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5B9BD5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PR Comercio</c:v>
                </c:pt>
                <c:pt idx="1">
                  <c:v>Fortlev Ind.</c:v>
                </c:pt>
                <c:pt idx="2">
                  <c:v>R&amp;M Comercio</c:v>
                </c:pt>
                <c:pt idx="3">
                  <c:v>Munic. Americana</c:v>
                </c:pt>
                <c:pt idx="4">
                  <c:v>Staff Const.</c:v>
                </c:pt>
                <c:pt idx="5">
                  <c:v>RR Tudo Const.</c:v>
                </c:pt>
                <c:pt idx="6">
                  <c:v>Ideal Box</c:v>
                </c:pt>
                <c:pt idx="7">
                  <c:v>Rhoferaço</c:v>
                </c:pt>
                <c:pt idx="8">
                  <c:v>Madeireira NA</c:v>
                </c:pt>
                <c:pt idx="9">
                  <c:v>P&amp;J Maia</c:v>
                </c:pt>
                <c:pt idx="10">
                  <c:v>Bobmaq Loc.</c:v>
                </c:pt>
                <c:pt idx="11">
                  <c:v>Duarte Cons.</c:v>
                </c:pt>
                <c:pt idx="12">
                  <c:v>Calu Materiais</c:v>
                </c:pt>
                <c:pt idx="13">
                  <c:v>Renato Carvalho</c:v>
                </c:pt>
                <c:pt idx="14">
                  <c:v>35.829 Nicole</c:v>
                </c:pt>
                <c:pt idx="15">
                  <c:v>Work &amp; Cement</c:v>
                </c:pt>
                <c:pt idx="16">
                  <c:v>BRN Ind.</c:v>
                </c:pt>
                <c:pt idx="17">
                  <c:v>Soldam Sol.</c:v>
                </c:pt>
                <c:pt idx="18">
                  <c:v>Depto Agua</c:v>
                </c:pt>
                <c:pt idx="19">
                  <c:v>Clayton Luis</c:v>
                </c:pt>
                <c:pt idx="20">
                  <c:v>Coperfil</c:v>
                </c:pt>
                <c:pt idx="21">
                  <c:v>CSN Cimentos</c:v>
                </c:pt>
                <c:pt idx="22">
                  <c:v>A D de Lima</c:v>
                </c:pt>
                <c:pt idx="23">
                  <c:v>Tatu Premoldados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0.079</c:v>
                </c:pt>
                <c:pt idx="1">
                  <c:v>0.078</c:v>
                </c:pt>
                <c:pt idx="2">
                  <c:v>0.073</c:v>
                </c:pt>
                <c:pt idx="3">
                  <c:v>0.068</c:v>
                </c:pt>
                <c:pt idx="4">
                  <c:v>0.068</c:v>
                </c:pt>
                <c:pt idx="5">
                  <c:v>0.066</c:v>
                </c:pt>
                <c:pt idx="6">
                  <c:v>0.061</c:v>
                </c:pt>
                <c:pt idx="7">
                  <c:v>0.061</c:v>
                </c:pt>
                <c:pt idx="8">
                  <c:v>0.061</c:v>
                </c:pt>
                <c:pt idx="9">
                  <c:v>0.057</c:v>
                </c:pt>
                <c:pt idx="10">
                  <c:v>0.054</c:v>
                </c:pt>
                <c:pt idx="11">
                  <c:v>0.053</c:v>
                </c:pt>
                <c:pt idx="12">
                  <c:v>0.051</c:v>
                </c:pt>
                <c:pt idx="13">
                  <c:v>0.045</c:v>
                </c:pt>
                <c:pt idx="14">
                  <c:v>0.044</c:v>
                </c:pt>
                <c:pt idx="15">
                  <c:v>0.042</c:v>
                </c:pt>
                <c:pt idx="16">
                  <c:v>0.041</c:v>
                </c:pt>
                <c:pt idx="17">
                  <c:v>0.041</c:v>
                </c:pt>
                <c:pt idx="18">
                  <c:v>0.04</c:v>
                </c:pt>
                <c:pt idx="19">
                  <c:v>0.038</c:v>
                </c:pt>
                <c:pt idx="20">
                  <c:v>0.037</c:v>
                </c:pt>
                <c:pt idx="21">
                  <c:v>0.036</c:v>
                </c:pt>
                <c:pt idx="22">
                  <c:v>0.034</c:v>
                </c:pt>
                <c:pt idx="23">
                  <c:v>0.034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5B9BD5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Tatu Premoldados</c:v>
                </c:pt>
                <c:pt idx="1">
                  <c:v>Filli Moveis</c:v>
                </c:pt>
                <c:pt idx="2">
                  <c:v>Real Madri</c:v>
                </c:pt>
                <c:pt idx="3">
                  <c:v>Fabio Dall</c:v>
                </c:pt>
                <c:pt idx="4">
                  <c:v>Kcifer Com.</c:v>
                </c:pt>
                <c:pt idx="5">
                  <c:v>KS Tubos</c:v>
                </c:pt>
                <c:pt idx="6">
                  <c:v>Galpao Tudo</c:v>
                </c:pt>
                <c:pt idx="7">
                  <c:v>G. Santos</c:v>
                </c:pt>
                <c:pt idx="8">
                  <c:v>Alianca Esq.</c:v>
                </c:pt>
                <c:pt idx="9">
                  <c:v>Trelicamp</c:v>
                </c:pt>
                <c:pt idx="10">
                  <c:v>Redentor</c:v>
                </c:pt>
                <c:pt idx="11">
                  <c:v>Cofert</c:v>
                </c:pt>
                <c:pt idx="12">
                  <c:v>CSN Cimentos</c:v>
                </c:pt>
                <c:pt idx="13">
                  <c:v>Blocos Band.</c:v>
                </c:pt>
                <c:pt idx="14">
                  <c:v>Acropole</c:v>
                </c:pt>
                <c:pt idx="15">
                  <c:v>26.891 Wallace</c:v>
                </c:pt>
                <c:pt idx="16">
                  <c:v>Gilberto Carlos</c:v>
                </c:pt>
                <c:pt idx="17">
                  <c:v>Bendilatti</c:v>
                </c:pt>
                <c:pt idx="18">
                  <c:v>Flora Natura</c:v>
                </c:pt>
                <c:pt idx="19">
                  <c:v>O W Tesse</c:v>
                </c:pt>
                <c:pt idx="20">
                  <c:v>Fera Atac</c:v>
                </c:pt>
                <c:pt idx="21">
                  <c:v>Bombacamp</c:v>
                </c:pt>
                <c:pt idx="22">
                  <c:v>Loxam</c:v>
                </c:pt>
                <c:pt idx="23">
                  <c:v>LGO Eng.</c:v>
                </c:pt>
                <c:pt idx="24">
                  <c:v>Helix</c:v>
                </c:pt>
                <c:pt idx="25">
                  <c:v>Lino Com.</c:v>
                </c:pt>
                <c:pt idx="26">
                  <c:v>Degam</c:v>
                </c:pt>
                <c:pt idx="27">
                  <c:v>Geradores</c:v>
                </c:pt>
                <c:pt idx="28">
                  <c:v>Amerilux</c:v>
                </c:pt>
                <c:pt idx="29">
                  <c:v>Jundsondas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0.032</c:v>
                </c:pt>
                <c:pt idx="1">
                  <c:v>0.03</c:v>
                </c:pt>
                <c:pt idx="2">
                  <c:v>0.028</c:v>
                </c:pt>
                <c:pt idx="3">
                  <c:v>0.028</c:v>
                </c:pt>
                <c:pt idx="4">
                  <c:v>0.027</c:v>
                </c:pt>
                <c:pt idx="5">
                  <c:v>0.027</c:v>
                </c:pt>
                <c:pt idx="6">
                  <c:v>0.026</c:v>
                </c:pt>
                <c:pt idx="7">
                  <c:v>0.026</c:v>
                </c:pt>
                <c:pt idx="8">
                  <c:v>0.025</c:v>
                </c:pt>
                <c:pt idx="9">
                  <c:v>0.025</c:v>
                </c:pt>
                <c:pt idx="10">
                  <c:v>0.025</c:v>
                </c:pt>
                <c:pt idx="11">
                  <c:v>0.023</c:v>
                </c:pt>
                <c:pt idx="12">
                  <c:v>0.023</c:v>
                </c:pt>
                <c:pt idx="13">
                  <c:v>0.022</c:v>
                </c:pt>
                <c:pt idx="14">
                  <c:v>0.022</c:v>
                </c:pt>
                <c:pt idx="15">
                  <c:v>0.022</c:v>
                </c:pt>
                <c:pt idx="16">
                  <c:v>0.021</c:v>
                </c:pt>
                <c:pt idx="17">
                  <c:v>0.019</c:v>
                </c:pt>
                <c:pt idx="18">
                  <c:v>0.019</c:v>
                </c:pt>
                <c:pt idx="19">
                  <c:v>0.019</c:v>
                </c:pt>
                <c:pt idx="20">
                  <c:v>0.018</c:v>
                </c:pt>
                <c:pt idx="21">
                  <c:v>0.018</c:v>
                </c:pt>
                <c:pt idx="22">
                  <c:v>0.018</c:v>
                </c:pt>
                <c:pt idx="23">
                  <c:v>0.018</c:v>
                </c:pt>
                <c:pt idx="24">
                  <c:v>0.018</c:v>
                </c:pt>
                <c:pt idx="25">
                  <c:v>0.017</c:v>
                </c:pt>
                <c:pt idx="26">
                  <c:v>0.017</c:v>
                </c:pt>
                <c:pt idx="27">
                  <c:v>0.017</c:v>
                </c:pt>
                <c:pt idx="28">
                  <c:v>0.017</c:v>
                </c:pt>
                <c:pt idx="29">
                  <c:v>0.015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203864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140</c:v>
                </c:pt>
                <c:pt idx="1">
                  <c:v>315</c:v>
                </c:pt>
                <c:pt idx="2">
                  <c:v>761</c:v>
                </c:pt>
                <c:pt idx="3">
                  <c:v>636</c:v>
                </c:pt>
                <c:pt idx="4">
                  <c:v>1036</c:v>
                </c:pt>
                <c:pt idx="5">
                  <c:v>427</c:v>
                </c:pt>
                <c:pt idx="6">
                  <c:v>450</c:v>
                </c:pt>
                <c:pt idx="7">
                  <c:v>757</c:v>
                </c:pt>
                <c:pt idx="8">
                  <c:v>520</c:v>
                </c:pt>
                <c:pt idx="9">
                  <c:v>468</c:v>
                </c:pt>
                <c:pt idx="10">
                  <c:v>360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203864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Total Contratos</c:v>
                </c:pt>
                <c:pt idx="1">
                  <c:v>Consumo Acumulado</c:v>
                </c:pt>
                <c:pt idx="2">
                  <c:v>Saldo Disponível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72.9</c:v>
                </c:pt>
                <c:pt idx="1">
                  <c:v>30.6</c:v>
                </c:pt>
                <c:pt idx="2">
                  <c:v>42.3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5B9BD5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PURA</c:v>
                </c:pt>
                <c:pt idx="1">
                  <c:v>VITORINA</c:v>
                </c:pt>
                <c:pt idx="2">
                  <c:v>DENILSON</c:v>
                </c:pt>
                <c:pt idx="3">
                  <c:v>LAIS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56.3</c:v>
                </c:pt>
                <c:pt idx="1">
                  <c:v>11.2</c:v>
                </c:pt>
                <c:pt idx="2">
                  <c:v>4.9</c:v>
                </c:pt>
                <c:pt idx="3">
                  <c:v>0.52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03864"/>
                </a:solidFill>
              </a:defRPr>
            </a:pPr>
            <a:r>
              <a:t>APRESENTAÇÃO DE RESULTADOS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GRUPO PURA</a:t>
            </a:r>
          </a:p>
          <a:p>
            <a:r>
              <a:t>Período: 01/01/2025 a 30/11/2025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Evolução de Compras Mensal (R$ Mi)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Evolução de Gastos em Permutas (R$ Mi)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Distribuição por Condições de Pagamento (R$ Mi)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Compras por Obras (Top 20) - Parte 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Compras por Obras - Parte 2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Compras por Obras - Parte 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Compras por Obras - Parte 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Top Fornecedores (R$ Mi) - Parte 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Fornecedores - Parte 2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Fornecedores - Parte 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Fornecedores - Parte 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Volume Mensal de Ordens (OFs)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Gestão de Contratos de Permutas - Global (R$ Mi)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3864"/>
                </a:solidFill>
                <a:latin typeface="Arial"/>
              </a:defRPr>
            </a:pPr>
            <a:r>
              <a:t>Gestão de Permutas por Parceiro (R$ Mi)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260000"/>
          <a:ext cx="81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